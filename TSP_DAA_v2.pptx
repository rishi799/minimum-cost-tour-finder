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</a:rPr>
              <a:t>MINIMUM COST TOUR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688"/>
                </a:solidFill>
              </a:rPr>
              <a:t>For Multi-City Travel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3657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</a:rPr>
              <a:t>Design and Analysis of Algorithms  |  CD343AI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</a:rPr>
              <a:t>Department of Artificial Intelligence and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6E"/>
                </a:solidFill>
              </a:rPr>
              <a:t>Rhea Parthiban   |   Rishi Agarwal   |   Rangappagari John Niranjan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1RV24CI097   |   1RV24CI099   |   1RV24CI096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00 -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618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Introduction &amp; Relevance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2618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Problem Statement &amp; Objectives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420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Branch and Bound Algorithm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25420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Held-Karp Algorithm (DP)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2219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Christofides Approximation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5661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382219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Experimental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19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46319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377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10235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Comparative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846319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846319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377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510235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01 -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The Route Optimisation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Modern logistics and transportation systems require efficient route planning across complex multi-city networks involving hundreds of interconnected nodes.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The Travelling Salesman Problem (TSP) is a fundamental combinatorial optimisation problem: find the shortest tour visiting every city exactly once and returning to the start.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Applications span delivery networks, airline scheduling, ride-sharing platforms, supply-chain management, and AI-based navigation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Implemented &amp; compared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TEST SIZES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5 to 14 cities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N!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BRUTE 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Factorial complexity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&lt;1s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APPROX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Christofides speed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621792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445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PROJECT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Comparative implementation and benchmarking of three major TSP algorithms - Branch and Bound, Held-Karp, and Christofides - covering exact and approximation paradigms to analyse trade-offs between optimality, speed, and scalability.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02 -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Defining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</a:rPr>
              <a:t>Given N cities and a pairwise distance matrix D, find the minimum-cost Hamiltonian cycle visiting every city exactly once and returning to the origin.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5661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Brute 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O(N!) time complexity makes it infeasible beyond ~10 cities. No pruning or intelligence.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0312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03120"/>
            <a:ext cx="35661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Exact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Guarantee optimal solutions but suffer exponential worst-case time as N grows.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10312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35661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Approximations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Trade optimality for speed. Near-optimal in polynomial time but sacrifice precision.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Project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Implement Branch and Bound for exact optimisation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Implement Held-Karp algorithm using dynamic programming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Implement Christofides algorithm for efficient approximation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Compare execution time, accuracy, and scalability across all three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Analyse trade-offs between exact and approximation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03 - BRANCH AND 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Exact Optimisation via Search Tree 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Systematically explores all possible tours as a search tree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Each node represents a partial tour; branches add the next city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Lower bound calculated at each node using minimum edge costs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Branches exceeding current best cost are pruned immediately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Guarantees the globally optimal (exact) solution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Uses recursive DFS with nonlocal best-cost tracker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O(N!)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Worst-case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O(N)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Recursion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MAX CITIES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Practical limit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3.6s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AT 12 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Execution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33856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445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PERFORMANCE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5 nodes: 0.00012s | 8 nodes: 0.00477s | 10 nodes: 0.06930s | 12 nodes: 3.59814s | 14 nodes: SKIPPED (too slow). Pruning helps but factorial growth dominates.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04 - HELD-KARP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Dynamic Programming with Bitmask Memoisation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Uses bitmask to represent subsets of visited cities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State: dp[node][visited_mask] = min cost reaching node after mask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Memoisation eliminates redundant overlapping sub-problems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After filling all states, back-tracks to reconstruct optimal path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Delivers exact optimal tour identical to Branch and Bound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Dramatically faster than B&amp;B due to subproblem reuse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O(2^N*N^2)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Exponential but tractable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O(2^N*N)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Memo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MAX CITIES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Memory limited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0.31s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AT 14 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Execution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33856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445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PERFORMANCE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5 nodes: 0.00006s | 8 nodes: 0.00190s | 10 nodes: 0.00820s | 12 nodes: 0.06358s | 14 nodes: 0.31274s. Consistently the fastest exact method across all test sizes.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05 - CHRISTOFIDES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Polynomial-Time Approximation with 1.5x Guarantee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Step 1: Build Minimum Spanning Tree (MST) of the graph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Step 2: Identify all odd-degree vertices in the MST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Step 3: Compute min-weight perfect matching on odd vertices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Step 4: Combine MST + matching into Eulerian multigraph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Step 5: Find Eulerian circuit in the multigraph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Step 6: Shortcut repeated vertices to get Hamiltonian cycle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Guarantees tour cost &lt;= 1.5x optimal (triangle inequality)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O(N^3)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Polynomial!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O(N^2)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Graph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1.5x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APPROX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Worst-case bound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&lt;0.01s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ALL SIZES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Near-instant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33856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445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PERFORMANCE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5 nodes: 3.24% error | 8 nodes: 2.79% error | 10 nodes: 5.68% error | 12 nodes: 0.00% error | 14 nodes: 10.94% error. Fastest algorithm across all test sizes with acceptable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06 -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Comparative Benchmarks on Euclidean Distance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280160"/>
            <a:ext cx="178308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B&amp;B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280160"/>
            <a:ext cx="178308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32588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H-K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280160"/>
            <a:ext cx="178308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32588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CF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280160"/>
            <a:ext cx="178308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32588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Optimal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280160"/>
            <a:ext cx="160020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3258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CF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783080"/>
            <a:ext cx="1051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856231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178308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1856231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0.00012s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178308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1856231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0.00006s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78308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1856231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0.00304s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78308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1856231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136.21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78308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856231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3.24%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286000"/>
            <a:ext cx="105156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235915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228600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235915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0.00477s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228600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35915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0.00190s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228600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235915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0.00107s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28600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235915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287.54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2286000"/>
            <a:ext cx="16002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235915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2.79%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2788920"/>
            <a:ext cx="1051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286207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278892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0" y="28620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0.06930s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0" y="278892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8620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0.00820s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278892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0" y="28620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0.00201s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278892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28620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244.91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78892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28620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5.68%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3291840"/>
            <a:ext cx="105156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336499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329184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0" y="336499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3.59814s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329184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336499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0.06358s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329184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0" y="336499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0.00175s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0" y="329184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0" y="336499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328.56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0" y="3291840"/>
            <a:ext cx="16002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0" y="33649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3794760"/>
            <a:ext cx="1051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386791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0" y="379476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28800" y="38679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Skipped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0" y="379476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0" y="38679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0.31274s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0" y="379476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0" y="38679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0.00178s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0" y="379476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0" y="38679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395.88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0" y="379476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0" y="386791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10.94%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572000"/>
            <a:ext cx="10698480" cy="100584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" y="457200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" y="4681728"/>
            <a:ext cx="10424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KEY FINDINGS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4983480"/>
            <a:ext cx="10424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Held-Karp consistently outperforms Branch &amp; Bound as the fastest exact method. Christofides delivers results in under 5ms for all sizes with average error below 5%. B&amp;B becomes impractical beyond 12 cities.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07 - ALGORITHM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Head-to-Head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56616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Branch &amp; 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Optimality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Exact (optimal)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39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5175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Time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71799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O(N!) worst-case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52043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Space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4048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O(N)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38912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7091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Low: &lt;=12 cities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79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25779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Best 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5778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Small exact problems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1234440"/>
            <a:ext cx="356616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12618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Held-Karp (DP)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73736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17830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Optimality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21031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Exact (optimal)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606039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265175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Time Complexity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2971799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O(2^N * N^2)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47472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352043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Space Complexity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384048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O(2^N * 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4343400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438912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Scalability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47091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Medium: &lt;=20 cities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5212079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61688" y="525779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Best Use 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55778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Moderate exact solutions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1234440"/>
            <a:ext cx="356616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12618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Christofides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173736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17830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Optimality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21031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&lt;=1.5x optimal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2606039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56448" y="265175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Time Complexity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2971799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O(N^3)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347472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56448" y="352043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Space Complexity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384048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O(N^2)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4343400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56448" y="438912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Scalability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56448" y="47091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High: scales to 100+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5212079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56448" y="525779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Best Use Case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8" y="55778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Large-scale routing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08 - 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Key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All three algorithms successfully solve TSP on Euclidean graphs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Branch &amp; Bound guarantees optimality but limited to small 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Held-Karp is the best exact method - tractable up to ~20 cities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Christofides delivers near-optimal results almost instantly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Euclidean distances satisfy triangle inequality, ensuring 1.5x bound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For real-world large-scale routing, Christofides is most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Implement Genetic Algorithms and Ant Colony Optimisation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Extend to asymmetric TSP (non-Euclidean cost matrices)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Integrate with real map APIs (Google Maps, OpenStreetMap)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Parallelise Branch &amp; Bound with multi-threading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Build interactive visualisation dashboard for tour animation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Apply to vehicle routing with time windows and multi-depot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34840"/>
            <a:ext cx="1133856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54864" cy="1645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445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FINAL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This project demonstrates that algorithm choice profoundly impacts performance. For small networks (N&lt;=12), Branch &amp; Bound or Held-Karp provide exact solutions. For larger networks, Christofides provides an excellent balance of speed and accuracy. The comparative analysis provides practical insights into optimisation techniques used widely in real-world routing, logistics, and transportation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1A2E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32004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6E"/>
                </a:solidFill>
              </a:rPr>
              <a:t>Rhea Parthiban   |   Rishi Agarwal   |   Rangappagari John Niranjan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</a:rPr>
              <a:t>Design and Analysis of Algorithms  |  CD343AI  |  Dept. of AIML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</a:rP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