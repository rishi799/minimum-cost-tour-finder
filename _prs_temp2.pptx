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</a:rPr>
              <a:t>MINIMUM COST TOUR 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9688"/>
                </a:solidFill>
              </a:rPr>
              <a:t>For Multi-City Travel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36576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</a:rPr>
              <a:t>Design and Analysis of Algorithms  |  CD343AI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</a:rPr>
              <a:t>Department of Artificial Intelligence and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A6E"/>
                </a:solidFill>
              </a:rPr>
              <a:t>Rhea Parthiban   |   Rishi Agarwal   |   Rangappagari John Niranjan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</a:rPr>
              <a:t>1RV24CI097   |   1RV24CI099   |   1RV24CI096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00 -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968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80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Introduction &amp; Relevance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43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9688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9" y="1280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Problem Statement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9688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60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Objectives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28600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9688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2560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Literature 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9688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40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Proposed Methodology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56616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9688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3840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Algorithm Deep-Dives (B&amp;B, Held-Karp, Christofides)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19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846319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834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9688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1206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Experimental Results &amp; Comparison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846319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846319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9688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59" y="51206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01 -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The Route Optimisation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Modern logistics and transportation systems require efficient route planning across complex multi-city networks.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The Travelling Salesman Problem (TSP) is a fundamental combinatorial optimisation problem: find the shortest tour visiting every city exactly once and returning to the start.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Applications span delivery networks, airline scheduling, ride-sharing platforms, supply-chain management, and AI-based navigation.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As city counts grow, naive solutions become computationally infeasible - smart algorithms are essential.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91440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642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20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Implemented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91440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6642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TEST SIZES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920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5 to 14 cities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46888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246888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697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N!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BRUTE FORCE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4747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Factorial growth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46888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246888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697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&lt;1s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APPROX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4747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Christofides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06240"/>
            <a:ext cx="11338560" cy="109728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206240"/>
            <a:ext cx="54864" cy="1097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297679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PROJECT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72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Comparative implementation and benchmarking of three TSP algorithms - Branch and Bound, Held-Karp, and Christofides - covering exact and approximation paradigms to analyse trade-offs between optimality, speed, and scalability.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02 -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Defining 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</a:rPr>
              <a:t>Given N cities and a pairwise distance matrix D, find the minimum-cost Hamiltonian cycle visiting every city exactly once and returning to the origin.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</a:rPr>
              <a:t>Brute Force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</a:rPr>
              <a:t>O(N!) time complexity makes it infeasible beyond ~10 cities. No pruning or intelligence applied.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48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</a:rPr>
              <a:t>Exact Algorithm Trade-off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</a:rPr>
              <a:t>Guarantee optimal solutions but suffer exponential worst-case time as the number of cities grows.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51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</a:rPr>
              <a:t>Approximation Trade-off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177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</a:rPr>
              <a:t>Trade optimality for speed. Near-optimal solutions in polynomial time but sacrifice some precision.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11480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11480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51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</a:rPr>
              <a:t>The Core 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177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</a:rPr>
              <a:t>Evaluate and compare different algorithmic strategies to find solutions that are optimal or near-optimal within a reasonable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03 -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What This Project Aims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338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07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968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Implement Branch and Bound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Build a recursive DFS-based exact solver with lower-bound pruning for optimal tour computation.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11338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54864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9688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Implement Held-Karp 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Develop a bitmask dynamic programming solution with memoisation for exact TSP optimisation.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338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54864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107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9688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832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Implement Christofides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216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Create an approximation solver using MST, minimum matching, and Eulerian circuit techniques.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11338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54864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62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9688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Benchmark and 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77316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Run all three algorithms on identical Euclidean datasets of varying sizes (5 to 14 cities).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40679"/>
            <a:ext cx="11338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440679"/>
            <a:ext cx="54864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51383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9688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4863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Analyse Trade-offs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824727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Evaluate execution time, solution accuracy, and scalability to identify the most suitable algorithm for different problem sizes.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04 -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Key Research Papers and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29184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801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234440"/>
            <a:ext cx="4078224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280160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Paper / Authors (Year)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234440"/>
            <a:ext cx="1975104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2801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234440"/>
            <a:ext cx="4718304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128016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32918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386584"/>
            <a:ext cx="228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331720"/>
            <a:ext cx="407822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86584"/>
            <a:ext cx="39776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Applegate et al. (2006)
"The Traveling Salesman Problem:
A Computational Study"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2331720"/>
            <a:ext cx="197510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2386584"/>
            <a:ext cx="1874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Branch &amp; Cut
+ LP Relaxation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331720"/>
            <a:ext cx="471830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2386584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Solved instances up to 85,900 cities using
branch-and-cut. Established Concorde as the
gold standard TSP solver.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29000"/>
            <a:ext cx="32918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483864"/>
            <a:ext cx="228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429000"/>
            <a:ext cx="407822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483864"/>
            <a:ext cx="39776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Bellman (1962), Held &amp; Karp (1962)
"Dynamic Programming Treatment
of the TSP"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3429000"/>
            <a:ext cx="197510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3483864"/>
            <a:ext cx="1874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Bitmask DP
Memoisation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3429000"/>
            <a:ext cx="471830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2592" y="3483864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Reduced TSP from O(N!) to O(2^N * N^2).
First polynomial-space exact algorithm.
Foundation of modern exact TSP solvers.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26279"/>
            <a:ext cx="32918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581143"/>
            <a:ext cx="228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526279"/>
            <a:ext cx="407822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581143"/>
            <a:ext cx="39776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Christofides (1976)
"Worst-Case Analysis of a New
Heuristic for the TSP"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4526279"/>
            <a:ext cx="197510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4581143"/>
            <a:ext cx="1874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MST + Min
Matching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4526279"/>
            <a:ext cx="471830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22592" y="4581143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Proved 1.5x approximation ratio for metric
TSP. Remained best approximation for 45
years until Karlin et al. (2021).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623560"/>
            <a:ext cx="32918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5678424"/>
            <a:ext cx="228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5623560"/>
            <a:ext cx="407822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678424"/>
            <a:ext cx="39776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Dorigo &amp; Gambardella (1997)
"Ant Colony System: A Cooperative
Learning Approach to TSP"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5623560"/>
            <a:ext cx="197510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10912" y="5678424"/>
            <a:ext cx="1874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Ant Colony
Optimisation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5623560"/>
            <a:ext cx="471830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22592" y="5678424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Bio-inspired meta-heuristic achieving near-
optimal results on large instances. Showed
swarm intelligence as viable TSP approach.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05 -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Implementation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Graph Representation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Represent cities and inter-city distances as a weighted adjacency matrix. Generate Euclidean distance networks to satisfy the triangle inequality constraint.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371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8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Algorithm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Implement all three algorithms independently in Python: Branch and Bound (recursive DFS), Held-Karp (bitmask DP), and Christofides (NetworkX-based MST + matching).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8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108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Dataset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5204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Create multiple test datasets with varying sizes (5, 8, 10, 12, 14 cities) using seeded random Euclidean point generation for reproducibility.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97180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97180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8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108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Performance Measurement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5204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Measure execution time, tour cost, and solution quality (error % vs optimal) for each algorithm on every dataset.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0916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70916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8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846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Comparative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257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Compare algorithms across all metrics. Identify practical limits, scalability thresholds, and trade-offs between exact and approximate methods.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70916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70916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8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846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Result Compilation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57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Output optimal/near-optimal routes with total cost. Generate comparative tables and analysis for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