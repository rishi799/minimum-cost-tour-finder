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1A1A2E"/>
                </a:solidFill>
              </a:rPr>
              <a:t>MINIMUM COST TOUR FINDER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40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09688"/>
                </a:solidFill>
              </a:rPr>
              <a:t>For Multi-City Travel Networks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3657600" cy="457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</a:rPr>
              <a:t>Design and Analysis of Algorithms  |  CD343AI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</a:rPr>
              <a:t>Department of Artificial Intelligence and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A6E"/>
                </a:solidFill>
              </a:rPr>
              <a:t>Rhea Parthiban   |   Rishi Agarwal   |   Rangappagari John Niranjan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</a:rPr>
              <a:t>1RV24CI097   |   1RV24CI099   |   1RV24CI096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00 - 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9688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280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Introduction &amp; Relevance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0584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143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9688"/>
                </a:solidFill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59" y="12801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Problem Statement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8600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8600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9688"/>
                </a:solidFill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60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Objectives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28600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228600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423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9688"/>
                </a:solidFill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59" y="25603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Literature Review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56616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56616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9688"/>
                </a:solidFill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40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Proposed Methodology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566160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56616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703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9688"/>
                </a:solidFill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38404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Algorithm Deep-Dives (B&amp;B, Held-Karp, Christofides)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846319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846319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9834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9688"/>
                </a:solidFill>
              </a:rPr>
              <a:t>07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1206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Experimental Results &amp; Comparison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4846319"/>
            <a:ext cx="53035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4846319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0" y="4983479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9688"/>
                </a:solidFill>
              </a:rPr>
              <a:t>08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59" y="5120639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01 - 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The Route Optimisation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Modern logistics and transportation systems require efficient route planning across complex multi-city networks.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The Travelling Salesman Problem (TSP) is a fundamental combinatorial optimisation problem: find the shortest tour visiting every city exactly once and returning to the start.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Applications span delivery networks, airline scheduling, ride-sharing platforms, supply-chain management, and AI-based navigation.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As city counts grow, naive solutions become computationally infeasible - smart algorithms are essential.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914400"/>
            <a:ext cx="21945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6420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ALGORITHMS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9202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Implemented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914400"/>
            <a:ext cx="21945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66420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TEST SIZES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9202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5 to 14 cities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468880"/>
            <a:ext cx="21945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246888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697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N!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BRUTE FORCE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4747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Factorial growth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468880"/>
            <a:ext cx="21945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246888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697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&lt;1s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APPROX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4747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Christofides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06240"/>
            <a:ext cx="11338560" cy="1097280"/>
          </a:xfrm>
          <a:prstGeom prst="rect">
            <a:avLst/>
          </a:prstGeom>
          <a:solidFill>
            <a:srgbClr val="F5F5F5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206240"/>
            <a:ext cx="54864" cy="10972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297679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PROJECT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572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Comparative implementation and benchmarking of three TSP algorithms - Branch and Bound, Held-Karp, and Christofides - covering exact and approximation paradigms to analyse trade-offs between optimality, speed, and scalability.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02 -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Defining the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B6B6B"/>
                </a:solidFill>
              </a:rPr>
              <a:t>Given N cities and a pairwise distance matrix D, find the minimum-cost Hamiltonian cycle visiting every city exactly once and returning to the origin.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5778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148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</a:rPr>
              <a:t>Brute Force Limitation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</a:rPr>
              <a:t>O(N!) time complexity makes it infeasible beyond ~10 cities. No pruning or intelligence applied.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2011680"/>
            <a:ext cx="55778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488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</a:rPr>
              <a:t>Exact Algorithm Trade-off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51460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</a:rPr>
              <a:t>Guarantee optimal solutions but suffer exponential worst-case time as the number of cities grows.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11480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114800"/>
            <a:ext cx="55778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251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</a:rPr>
              <a:t>Approximation Trade-off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6177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</a:rPr>
              <a:t>Trade optimality for speed. Near-optimal solutions in polynomial time but sacrifice some precision.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114800"/>
            <a:ext cx="55778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4114800"/>
            <a:ext cx="55778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42519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9688"/>
                </a:solidFill>
              </a:rPr>
              <a:t>The Core Challenge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61772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B6B6B"/>
                </a:solidFill>
              </a:rPr>
              <a:t>Evaluate and compare different algorithmic strategies to find solutions that are optimal or near-optimal within a reasonable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03 -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What This Project Aims to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338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4864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0759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9688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280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Implement Branch and Bound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61848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Build a recursive DFS-based exact solver with lower-bound pruning for optimal tour computation.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286000"/>
            <a:ext cx="11338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86000"/>
            <a:ext cx="54864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3591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9688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31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Implement Held-Karp Algorithm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267004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Develop a bitmask dynamic programming solution with memoisation for exact TSP optimisation.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37560"/>
            <a:ext cx="11338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337560"/>
            <a:ext cx="54864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107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9688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38327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Implement Christofides Algorithm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72160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Create an approximation solver using MST, minimum matching, and Eulerian circuit techniques.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389120"/>
            <a:ext cx="11338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4389120"/>
            <a:ext cx="54864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46227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9688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Benchmark and Compare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77316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Run all three algorithms on identical Euclidean datasets of varying sizes (5 to 14 cities).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440679"/>
            <a:ext cx="11338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5440679"/>
            <a:ext cx="54864" cy="9144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513831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9688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4863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Analyse Trade-offs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5824727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Evaluate execution time, solution accuracy, and scalability to identify the most suitable algorithm for different problem sizes.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04 - 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Key Research Papers and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29184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28016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#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234440"/>
            <a:ext cx="4078224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280160"/>
            <a:ext cx="39776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Paper / Authors (Year)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234440"/>
            <a:ext cx="1975104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10912" y="1280160"/>
            <a:ext cx="1874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Method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234440"/>
            <a:ext cx="4718304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2592" y="1280160"/>
            <a:ext cx="4617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Key Findings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31720"/>
            <a:ext cx="32918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2386584"/>
            <a:ext cx="228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2331720"/>
            <a:ext cx="407822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386584"/>
            <a:ext cx="39776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Applegate et al. (2006)
"The Traveling Salesman Problem:
A Computational Study"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2331720"/>
            <a:ext cx="197510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10912" y="2386584"/>
            <a:ext cx="1874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Branch &amp; Cut
+ LP Relaxation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9440" y="2331720"/>
            <a:ext cx="471830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22592" y="2386584"/>
            <a:ext cx="4617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Solved instances up to 85,900 cities using
branch-and-cut. Established Concorde as the
gold standard TSP solver.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29000"/>
            <a:ext cx="329184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0352" y="3483864"/>
            <a:ext cx="228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3429000"/>
            <a:ext cx="4078224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3483864"/>
            <a:ext cx="39776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Bellman (1962), Held &amp; Karp (1962)
"Dynamic Programming Treatment
of the TSP"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37760" y="3429000"/>
            <a:ext cx="1975104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10912" y="3483864"/>
            <a:ext cx="1874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Bitmask DP
Memoisation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3429000"/>
            <a:ext cx="4718304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22592" y="3483864"/>
            <a:ext cx="4617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Reduced TSP from O(N!) to O(2^N * N^2).
First polynomial-space exact algorithm.
Foundation of modern exact TSP solvers.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526279"/>
            <a:ext cx="32918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4581143"/>
            <a:ext cx="228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4526279"/>
            <a:ext cx="407822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581143"/>
            <a:ext cx="39776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Christofides (1976)
"Worst-Case Analysis of a New
Heuristic for the TSP"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937760" y="4526279"/>
            <a:ext cx="197510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10912" y="4581143"/>
            <a:ext cx="1874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MST + Min
Matching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4526279"/>
            <a:ext cx="4718304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22592" y="4581143"/>
            <a:ext cx="4617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Proved 1.5x approximation ratio for metric
TSP. Remained best approximation for 45
years until Karlin et al. (2021).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623560"/>
            <a:ext cx="329184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" y="5678424"/>
            <a:ext cx="228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2960" y="5623560"/>
            <a:ext cx="4078224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" y="5678424"/>
            <a:ext cx="39776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Dorigo &amp; Gambardella (1997)
"Ant Colony System: A Cooperative
Learning Approach to TSP"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5623560"/>
            <a:ext cx="1975104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10912" y="5678424"/>
            <a:ext cx="1874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Ant Colony
Optimisation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949440" y="5623560"/>
            <a:ext cx="4718304" cy="10058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22592" y="5678424"/>
            <a:ext cx="4617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Bio-inspired meta-heuristic achieving near-
optimal results on large instances. Showed
swarm intelligence as viable TSP approach.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05 - PROPOSED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Implementation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5778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688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Graph Representation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83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Represent cities and inter-city distances as a weighted adjacency matrix. Generate Euclidean distance networks to satisfy the triangle inequality constraint.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23444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234440"/>
            <a:ext cx="55778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371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688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13716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Algorithm Implementation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Implement all three algorithms independently in Python: Branch and Bound (recursive DFS), Held-Karp (bitmask DP), and Christofides (NetworkX-based MST + matching).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97180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2971800"/>
            <a:ext cx="55778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688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108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Dataset Generation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5204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Create multiple test datasets with varying sizes (5, 8, 10, 12, 14 cities) using seeded random Euclidean point generation for reproducibility.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97180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971800"/>
            <a:ext cx="55778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19088" y="31089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688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3108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Performance Measurement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352044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Measure execution time, tour cost, and solution quality (error % vs optimal) for each algorithm on every dataset.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0916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709160"/>
            <a:ext cx="55778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688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4846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Comparative Analysis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52578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Compare algorithms across all metrics. Identify practical limits, scalability thresholds, and trade-offs between exact and approximate methods.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709160"/>
            <a:ext cx="557784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709160"/>
            <a:ext cx="55778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9688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48463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Result Compilation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525780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6B6B"/>
                </a:solidFill>
              </a:rPr>
              <a:t>Output optimal/near-optimal routes with total cost. Generate comparative tables and analysis for presentation.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06 - BRANCH AND BOUND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Exact Optimisation via Search Tree Pruning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Systematically explores all possible tours as a search tree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Each node represents a partial tour; branches add the next city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Lower bound calculated at each node using minimum edge costs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Branches exceeding current best cost are pruned immediately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Guarantees the globally optimal (exact) solution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Uses recursive DFS with nonlocal best-cost tracker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914400"/>
            <a:ext cx="21945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O(N!)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6420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9202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Worst-case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914400"/>
            <a:ext cx="21945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O(N)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66420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9202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Recursion stack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468880"/>
            <a:ext cx="21945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246888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697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MAX CITIES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4747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Practical limit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468880"/>
            <a:ext cx="21945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246888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697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3.6s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AT 12 NODES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4747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Execution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06240"/>
            <a:ext cx="11338560" cy="1097280"/>
          </a:xfrm>
          <a:prstGeom prst="rect">
            <a:avLst/>
          </a:prstGeom>
          <a:solidFill>
            <a:srgbClr val="F5F5F5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206240"/>
            <a:ext cx="54864" cy="10972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297679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572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5 nodes: 0.00012s | 8 nodes: 0.00477s | 10 nodes: 0.06930s | 12 nodes: 3.59814s | 14 nodes: SKIPPED (too slow). Pruning helps but factorial growth dominates.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07 - HELD-KARP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Dynamic Programming with Bitmask Memoisation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943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Uses bitmask to represent subsets of visited cities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State: dp[node][visited_mask] = min cost reaching node after mask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Memoisation eliminates redundant overlapping sub-problems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After filling all states, back-tracks to reconstruct optimal path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Delivers exact optimal tour - identical to Branch and Bound result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Dramatically faster than B&amp;B due to subproblem reuse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914400"/>
            <a:ext cx="21945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O(2^N*N^2)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6420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9202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Exponential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914400"/>
            <a:ext cx="21945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O(2^N*N)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66420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9202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Memo table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468880"/>
            <a:ext cx="21945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246888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697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MAX CITIES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4747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Memory limited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468880"/>
            <a:ext cx="21945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246888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697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0.31s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AT 14 NODES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4747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Execution time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06240"/>
            <a:ext cx="11338560" cy="1097280"/>
          </a:xfrm>
          <a:prstGeom prst="rect">
            <a:avLst/>
          </a:prstGeom>
          <a:solidFill>
            <a:srgbClr val="F5F5F5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206240"/>
            <a:ext cx="54864" cy="10972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297679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57200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5 nodes: 0.00006s | 8 nodes: 0.00190s | 10 nodes: 0.00820s | 12 nodes: 0.06358s | 14 nodes: 0.31274s. Consistently the fastest exact method across all test sizes.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08 - CHRISTOFIDES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Polynomial-Time Approximation with 1.5x Guarantee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943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Step 1: Build Minimum Spanning Tree (MST) of the graph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Step 2: Identify all odd-degree vertices in the MST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Step 3: Compute min-weight perfect matching on odd vertices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Step 4: Combine MST + matching into Eulerian multigraph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Step 5: Find Eulerian circuit in the multigraph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Step 6: Shortcut repeated vertices to get Hamiltonian cycle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Guarantees tour cost &lt;= 1.5x optimal (triangle inequality)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914400"/>
            <a:ext cx="21945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13232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O(N^3)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66420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9202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Polynomial!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0" y="914400"/>
            <a:ext cx="21945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601200" y="91440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0" y="11430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O(N^2)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1664207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SPACE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192024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Graph storage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468880"/>
            <a:ext cx="21945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246888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0" y="2697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1.5x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RATIO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4747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Worst-case bound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2468880"/>
            <a:ext cx="219456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2468880"/>
            <a:ext cx="219456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69748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</a:rPr>
              <a:t>&lt;0.01s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32186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6B6B6B"/>
                </a:solidFill>
              </a:rPr>
              <a:t>ALL SIZES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347472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6B6B"/>
                </a:solidFill>
              </a:rPr>
              <a:t>Near-instant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34840"/>
            <a:ext cx="11338560" cy="1005840"/>
          </a:xfrm>
          <a:prstGeom prst="rect">
            <a:avLst/>
          </a:prstGeom>
          <a:solidFill>
            <a:srgbClr val="F5F5F5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443484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526279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80060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5 nodes: 3.24% error | 8 nodes: 2.79% error | 10 nodes: 5.68% error | 12 nodes: 0.00% error | 14 nodes: 10.94% error. Fastest across all tests.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09 - EXPERIMENTAL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Comparative Benchmarks on Euclidean Distance Networks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05156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10058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Nodes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280160"/>
            <a:ext cx="178308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1325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B&amp;B 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280160"/>
            <a:ext cx="178308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1325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H-K Time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1280160"/>
            <a:ext cx="178308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32120" y="1325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CF Time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0" y="1280160"/>
            <a:ext cx="178308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132588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Optimal Cost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1280160"/>
            <a:ext cx="1600200" cy="50292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20" y="132588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CF Error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1783080"/>
            <a:ext cx="1051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1856231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178308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74519" y="185623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0.00012s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0" y="178308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185623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0.00006s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0" y="178308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532120" y="185623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0.00304s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178308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1856231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136.21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0" y="178308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89720" y="1856231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3.24%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2286000"/>
            <a:ext cx="105156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2359152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28800" y="2286000"/>
            <a:ext cx="17830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74519" y="23591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0.00477s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0" y="2286000"/>
            <a:ext cx="17830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03320" y="23591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0.00190s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0" y="2286000"/>
            <a:ext cx="17830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532120" y="23591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0.00107s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2286000"/>
            <a:ext cx="17830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60920" y="23591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287.54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2286000"/>
            <a:ext cx="160020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9720" y="235915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2.79%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" y="2788920"/>
            <a:ext cx="1051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2862072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0" y="278892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74519" y="28620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0.06930s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0" y="278892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703320" y="28620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0.00820s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0" y="278892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532120" y="28620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0.00201s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315200" y="278892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60920" y="28620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244.91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44000" y="278892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89720" y="286207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5.68%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31520" y="3291840"/>
            <a:ext cx="105156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" y="3364992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12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28800" y="3291840"/>
            <a:ext cx="17830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74519" y="33649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3.59814s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657600" y="3291840"/>
            <a:ext cx="17830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703320" y="33649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0.06358s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0" y="3291840"/>
            <a:ext cx="17830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532120" y="33649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0.00175s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315200" y="3291840"/>
            <a:ext cx="178308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60920" y="33649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328.56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44000" y="3291840"/>
            <a:ext cx="1600200" cy="50292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189720" y="336499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31520" y="3794760"/>
            <a:ext cx="10515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77240" y="3867912"/>
            <a:ext cx="10058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14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28800" y="379476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874519" y="38679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392B"/>
                </a:solidFill>
              </a:rPr>
              <a:t>Skipped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657600" y="379476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703320" y="38679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0.31274s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0" y="379476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532120" y="38679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0.00178s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315200" y="3794760"/>
            <a:ext cx="1783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360920" y="38679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395.88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144000" y="3794760"/>
            <a:ext cx="1600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189720" y="386791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1A1A2E"/>
                </a:solidFill>
              </a:rPr>
              <a:t>10.94%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31520" y="4297680"/>
            <a:ext cx="10698480" cy="1005840"/>
          </a:xfrm>
          <a:prstGeom prst="rect">
            <a:avLst/>
          </a:prstGeom>
          <a:solidFill>
            <a:srgbClr val="F5F5F5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1520" y="4297680"/>
            <a:ext cx="54864" cy="100584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914400" y="4389120"/>
            <a:ext cx="104241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KEY FINDINGS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14400" y="4663440"/>
            <a:ext cx="1042415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Held-Karp consistently outperforms B&amp;B as fastest exact method. Christofides delivers results in under 5ms for all sizes with average error below 5%. B&amp;B becomes impractical beyond 12 cities.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10 - ALGORITHM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A2E"/>
                </a:solidFill>
              </a:rPr>
              <a:t>Head-to-Head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356616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Branch &amp; Bound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37360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78308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Optimality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10312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Exact (optimal)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06039"/>
            <a:ext cx="356616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651759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Time Complexity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2971799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O(N!) worst-case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74720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520439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Space Complexity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84048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O(N) stack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343400"/>
            <a:ext cx="356616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438912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Scalability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70916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Low: &lt;=12 cities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212079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257799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Best Use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57784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Small exact problems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1234440"/>
            <a:ext cx="356616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12618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Held-Karp (DP)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51960" y="1737360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61688" y="178308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Optimality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61688" y="210312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Exact (optimal)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51960" y="2606039"/>
            <a:ext cx="356616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1688" y="2651759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Time Complexity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61688" y="2971799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O(2^N * N^2)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51960" y="3474720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61688" y="3520439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Space Complexity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61688" y="384048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O(2^N * 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4343400"/>
            <a:ext cx="356616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61688" y="438912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Scalability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61688" y="470916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Medium: &lt;=20 cities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1960" y="5212079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61688" y="5257799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Best Use Case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1688" y="557784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Moderate exact solutions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6720" y="1234440"/>
            <a:ext cx="3566160" cy="4572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0" y="12618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Christofides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46720" y="1737360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56448" y="178308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Optimality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56448" y="210312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&lt;=1.5x optimal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46720" y="2606039"/>
            <a:ext cx="356616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56448" y="2651759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Time Complexity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56448" y="2971799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O(N^3)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6720" y="3474720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56448" y="3520439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Space Complexity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56448" y="384048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O(N^2)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46720" y="4343400"/>
            <a:ext cx="3566160" cy="777240"/>
          </a:xfrm>
          <a:prstGeom prst="rect">
            <a:avLst/>
          </a:prstGeom>
          <a:solidFill>
            <a:srgbClr val="F5F5F5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56448" y="4389120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Scalability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56448" y="470916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High: scales to 100+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046720" y="5212079"/>
            <a:ext cx="35661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56448" y="5257799"/>
            <a:ext cx="33832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9688"/>
                </a:solidFill>
              </a:rPr>
              <a:t>Best Use Case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56448" y="5577840"/>
            <a:ext cx="3383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Large-scale routing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320040"/>
            <a:ext cx="54864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13716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9688"/>
                </a:solidFill>
              </a:rPr>
              <a:t>11 - CONCLUSION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Key Conclusions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All three algorithms successfully solve TSP on Euclidean graphs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Branch &amp; Bound guarantees optimality but limited to small 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Held-Karp is the best exact method - tractable up to ~20 cities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Christofides delivers near-optimal results almost instantly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Euclidean distances satisfy triangle inequality for 1.5x bound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For real-world large-scale routing, Christofides is most practical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7772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Future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Implement Genetic Algorithms and Ant Colony Optimisation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Extend to asymmetric TSP (non-Euclidean cost matrices)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Integrate with real map APIs (Google Maps, OpenStreetMap)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Parallelise Branch &amp; Bound with multi-threading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Build interactive visualisation dashboard for tour animation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6B6B6B"/>
                </a:solidFill>
              </a:rPr>
              <a:t>  &gt;  Apply to vehicle routing with time windows and multi-depot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434840"/>
            <a:ext cx="11338560" cy="13716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54864" cy="13716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526279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688"/>
                </a:solidFill>
              </a:rPr>
              <a:t>FINAL TAKEAWAY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8006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</a:rPr>
              <a:t>Algorithm choice profoundly impacts performance. For small networks (N&lt;=12), B&amp;B or Held-Karp provide exact solutions. For larger networks, Christofides provides an excellent balance of speed and accuracy. This comparative analysis offers practical insights into optimisation techniques used in real-world routing and logistics.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36576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1A1A2E"/>
                </a:solidFill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108960"/>
            <a:ext cx="3200400" cy="54864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3383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A6E"/>
                </a:solidFill>
              </a:rPr>
              <a:t>Rhea Parthiban   |   Rishi Agarwal   |   Rangappagari John Niranjan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</a:rPr>
              <a:t>Design and Analysis of Algorithms  |  CD343AI  |  Dept. of AIML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6B6B"/>
                </a:solidFill>
              </a:rPr>
              <a:t>Questions &amp; Discussion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