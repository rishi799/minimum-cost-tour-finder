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365760"/>
            <a:ext cx="4114800" cy="4114800"/>
          </a:xfrm>
          <a:prstGeom prst="ellipse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9FF"/>
                </a:solidFill>
              </a:rPr>
              <a:t>MINIMUM COST TOUR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FOR MULTI-CITY TRAVEL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46120"/>
            <a:ext cx="5029200" cy="54864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Design and Analysis of Algorithms  |  CD343AI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Department of Artificial Intelligence and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971E"/>
                </a:solidFill>
              </a:rPr>
              <a:t>Rhea Parthiban  •  Rishi Agarwal  •  Rangappagari John Niranjan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1RV24CI097  •  1RV24CI099  •  1RV24CI096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212080" cy="640080"/>
          </a:xfrm>
          <a:prstGeom prst="rect">
            <a:avLst/>
          </a:prstGeom>
          <a:solidFill>
            <a:srgbClr val="162D44"/>
          </a:solidFill>
          <a:ln w="1016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16152"/>
            <a:ext cx="6400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71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280160"/>
            <a:ext cx="4343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Introduction &amp;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212080" cy="640080"/>
          </a:xfrm>
          <a:prstGeom prst="rect">
            <a:avLst/>
          </a:prstGeom>
          <a:solidFill>
            <a:srgbClr val="162D44"/>
          </a:solidFill>
          <a:ln w="1016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16152"/>
            <a:ext cx="6400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71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280160"/>
            <a:ext cx="4343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47672"/>
            <a:ext cx="5212080" cy="640080"/>
          </a:xfrm>
          <a:prstGeom prst="rect">
            <a:avLst/>
          </a:prstGeom>
          <a:solidFill>
            <a:srgbClr val="162D44"/>
          </a:solidFill>
          <a:ln w="1016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20824"/>
            <a:ext cx="6400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71E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2084831"/>
            <a:ext cx="4343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Algorithm 1 — Branch and Bound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47672"/>
            <a:ext cx="5212080" cy="640080"/>
          </a:xfrm>
          <a:prstGeom prst="rect">
            <a:avLst/>
          </a:prstGeom>
          <a:solidFill>
            <a:srgbClr val="162D44"/>
          </a:solidFill>
          <a:ln w="1016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020824"/>
            <a:ext cx="6400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71E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084831"/>
            <a:ext cx="4343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Algorithm 2 — Held-Karp (Dynamic Programming)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52344"/>
            <a:ext cx="5212080" cy="640080"/>
          </a:xfrm>
          <a:prstGeom prst="rect">
            <a:avLst/>
          </a:prstGeom>
          <a:solidFill>
            <a:srgbClr val="162D44"/>
          </a:solidFill>
          <a:ln w="1016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25496"/>
            <a:ext cx="6400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71E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7" y="2889503"/>
            <a:ext cx="4343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Algorithm 3 — Christofides Approximation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52344"/>
            <a:ext cx="5212080" cy="640080"/>
          </a:xfrm>
          <a:prstGeom prst="rect">
            <a:avLst/>
          </a:prstGeom>
          <a:solidFill>
            <a:srgbClr val="162D44"/>
          </a:solidFill>
          <a:ln w="1016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825496"/>
            <a:ext cx="6400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71E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2889503"/>
            <a:ext cx="4343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Experimental Results &amp; Comparison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57016"/>
            <a:ext cx="5212080" cy="640080"/>
          </a:xfrm>
          <a:prstGeom prst="rect">
            <a:avLst/>
          </a:prstGeom>
          <a:solidFill>
            <a:srgbClr val="162D44"/>
          </a:solidFill>
          <a:ln w="1016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630168"/>
            <a:ext cx="6400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71E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3694176"/>
            <a:ext cx="4343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Introduction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7971E"/>
                </a:solidFill>
              </a:rPr>
              <a:t>Why Route Optimisation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1430000" cy="502920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Key Motivations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1115568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Modern logistics, delivery networks, and airline scheduling all depend on finding efficient routes.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The Travelling Salesman Problem (TSP) is a cornerstone of combinatorial optimisation.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Real-world applications: e-commerce delivery, ride-sharing, supply-chain management, GPS navigation.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As city counts grow, naive solutions become computationally infeasible — smart algorithms are essential.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This project implements and benchmarks three major algorithmic paradigms to tackle TSP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Given N cities and a distance matrix D, find the minimum-cost Hamiltonian cycle that visits every city exactly once and returns to the origin.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657600" cy="219456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Brute Force Limitation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39"/>
            <a:ext cx="338328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97479"/>
            <a:ext cx="33832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O(N!) time complexity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Infeasible beyond ~12 cities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No pruning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57600" cy="219456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2128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Exact Algorithms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606039"/>
            <a:ext cx="338328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79"/>
            <a:ext cx="33832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Optimal solutions guaranteed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Exponential worst-case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Feasible for small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3657600" cy="219456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2128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Approximation Methods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606039"/>
            <a:ext cx="338328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697479"/>
            <a:ext cx="33832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Near-optimal in polynomial 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Sacrifices some accuracy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Scales to large 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11430000" cy="219456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73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Our Goal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66359"/>
            <a:ext cx="1115568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57800"/>
            <a:ext cx="111556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Implement all three paradigms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Benchmark on same datasets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Quantify trade-offs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Algorithm 1 — Branch and 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94960" cy="544068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12064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19"/>
            <a:ext cx="5120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Systematically explores all possible tours as a search tree.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Each node = a partial tour; each branch = adding the next city.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A lower-bound is calculated at every node using min-edge costs.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Branches whose bound ≥ current best cost are PRUNED.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Guarantees the globally optimal (exact) solution.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Implementation uses recursive DFS with a nonlocal best tracker.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51560"/>
            <a:ext cx="5760720" cy="256032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1612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48640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45919"/>
            <a:ext cx="54864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Time:  O(N!)  worst-case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Space: O(N)   recursion stack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Pruning significantly reduces average-case exploration.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Practical limit: ~12–14 cities before runtime spikes.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840480"/>
            <a:ext cx="5760720" cy="265176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950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Results Snapshot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43400"/>
            <a:ext cx="548640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434840"/>
            <a:ext cx="54864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5 nodes  → 0.00012 s  | Cost 136.21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8 nodes  → 0.00477 s  | Cost 287.54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10 nodes → 0.06930 s  | Cost 244.91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12 nodes → 3.59814 s  | Cost 328.56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14 nodes → SKIPPED (too slow)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Algorithm 2 — Held-Karp (Dynamic Programming)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94960" cy="544068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12064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19"/>
            <a:ext cx="5120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Uses bitmask DP to represent subsets of visited cities.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State: dp[node][visited_mask] = min cost to reach 'node' after visiting 'mask'.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Memoisation avoids recomputing overlapping sub-problems.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After filling all states, back-tracks to reconstruct the optimal path.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Delivers the exact optimal tour — identical result to B&amp;B.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Much faster than B&amp;B thanks to overlapping-subproblem elimination.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51560"/>
            <a:ext cx="5760720" cy="256032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1612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48640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45919"/>
            <a:ext cx="54864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Time:  O(2^N · N²)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Space: O(2^N · N)  for the memo table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Exponential, but far better than O(N!) in practice.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Practical limit: ~20–22 cities (memory constraint).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840480"/>
            <a:ext cx="5760720" cy="265176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950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Results Snapshot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43400"/>
            <a:ext cx="548640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434840"/>
            <a:ext cx="54864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5 nodes  → 0.00006 s  | Cost 136.21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8 nodes  → 0.00190 s  | Cost 287.54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10 nodes → 0.00820 s  | Cost 244.91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12 nodes → 0.06358 s  | Cost 328.56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14 nodes → 0.31274 s  | Cost 395.88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Algorithm 3 — Christofides Approximation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94960" cy="544068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12064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19"/>
            <a:ext cx="5120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Step 1: Build a Minimum Spanning Tree (MST) of the graph.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Step 2: Find all odd-degree vertices in the MST.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Step 3: Compute min-weight perfect matching on odd vertices.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Step 4: Combine MST + matching → Eulerian multigraph.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Step 5: Find an Eulerian circuit in the multigraph.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Step 6: Shortcut repeated vertices → Hamiltonian cycle.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Guarantees tour cost ≤ 1.5 × optimal (triangle inequality).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51560"/>
            <a:ext cx="5760720" cy="256032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1612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48640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45919"/>
            <a:ext cx="54864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Time:  O(N³)  — polynomial!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Space: O(N²)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Approximation ratio: ≤ 1.5× optimal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Requires triangle inequality to hold (Euclidean graphs).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840480"/>
            <a:ext cx="5760720" cy="265176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950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Results Snapshot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43400"/>
            <a:ext cx="548640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434840"/>
            <a:ext cx="54864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5 nodes  → 0.00304 s  | Error  3.24%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8 nodes  → 0.00107 s  | Error  2.79%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10 nodes → 0.00201 s  | Error  5.68%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12 nodes → 0.00175 s  | Error  0.00%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14 nodes → 0.00178 s  | Error 10.94%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Experimental Results — Comparative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868680" cy="475488"/>
          </a:xfrm>
          <a:prstGeom prst="rect">
            <a:avLst/>
          </a:prstGeom>
          <a:solidFill>
            <a:srgbClr val="004A6E"/>
          </a:solidFill>
          <a:ln w="63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24712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FF"/>
                </a:solidFill>
              </a:rPr>
              <a:t>Nodes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051560"/>
            <a:ext cx="1691639" cy="475488"/>
          </a:xfrm>
          <a:prstGeom prst="rect">
            <a:avLst/>
          </a:prstGeom>
          <a:solidFill>
            <a:srgbClr val="004A6E"/>
          </a:solidFill>
          <a:ln w="63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124712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FF"/>
                </a:solidFill>
              </a:rPr>
              <a:t>B&amp;B Time 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051560"/>
            <a:ext cx="1600200" cy="475488"/>
          </a:xfrm>
          <a:prstGeom prst="rect">
            <a:avLst/>
          </a:prstGeom>
          <a:solidFill>
            <a:srgbClr val="004A6E"/>
          </a:solidFill>
          <a:ln w="63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112471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FF"/>
                </a:solidFill>
              </a:rPr>
              <a:t>HK Time (s)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51560"/>
            <a:ext cx="2240280" cy="475488"/>
          </a:xfrm>
          <a:prstGeom prst="rect">
            <a:avLst/>
          </a:prstGeom>
          <a:solidFill>
            <a:srgbClr val="004A6E"/>
          </a:solidFill>
          <a:ln w="63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124712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FF"/>
                </a:solidFill>
              </a:rPr>
              <a:t>Christofides Time (s)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051560"/>
            <a:ext cx="1691639" cy="475488"/>
          </a:xfrm>
          <a:prstGeom prst="rect">
            <a:avLst/>
          </a:prstGeom>
          <a:solidFill>
            <a:srgbClr val="004A6E"/>
          </a:solidFill>
          <a:ln w="63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59" y="1124712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FF"/>
                </a:solidFill>
              </a:rPr>
              <a:t>Optimal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051560"/>
            <a:ext cx="1417320" cy="475488"/>
          </a:xfrm>
          <a:prstGeom prst="rect">
            <a:avLst/>
          </a:prstGeom>
          <a:solidFill>
            <a:srgbClr val="004A6E"/>
          </a:solidFill>
          <a:ln w="63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112471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FF"/>
                </a:solidFill>
              </a:rPr>
              <a:t>CF 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527048"/>
            <a:ext cx="86868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160934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527048"/>
            <a:ext cx="1691639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1609344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0.00012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527048"/>
            <a:ext cx="160020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39" y="160934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0.00006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527048"/>
            <a:ext cx="224028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160934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0.00304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527048"/>
            <a:ext cx="1691639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59" y="1609344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136.21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1527048"/>
            <a:ext cx="141732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1609344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3.24%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002536"/>
            <a:ext cx="868680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084831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2002536"/>
            <a:ext cx="1691639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2084831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0.00477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2002536"/>
            <a:ext cx="1600200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39" y="2084831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0.00190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002536"/>
            <a:ext cx="2240280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59" y="2084831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0.00107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2002536"/>
            <a:ext cx="1691639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59" y="2084831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287.54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2002536"/>
            <a:ext cx="1417320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2084831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2.79%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78024"/>
            <a:ext cx="86868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2560320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2478024"/>
            <a:ext cx="1691639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25880" y="2560320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0.06930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2478024"/>
            <a:ext cx="160020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39" y="2560320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0.00820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2478024"/>
            <a:ext cx="224028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59" y="2560320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0.00201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2478024"/>
            <a:ext cx="1691639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95159" y="2560320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244.91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2478024"/>
            <a:ext cx="141732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256032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5.68%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2953512"/>
            <a:ext cx="868680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035808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2953512"/>
            <a:ext cx="1691639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25880" y="3035808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3.59814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2953512"/>
            <a:ext cx="1600200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63239" y="303580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0.06358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2953512"/>
            <a:ext cx="2240280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09159" y="3035808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0.00175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9440" y="2953512"/>
            <a:ext cx="1691639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95159" y="3035808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328.56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86800" y="2953512"/>
            <a:ext cx="1417320" cy="475488"/>
          </a:xfrm>
          <a:prstGeom prst="rect">
            <a:avLst/>
          </a:prstGeom>
          <a:solidFill>
            <a:srgbClr val="0D1B2A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32520" y="3035808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429000"/>
            <a:ext cx="86868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351129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80160" y="3429000"/>
            <a:ext cx="1691639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25880" y="3511296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971E"/>
                </a:solidFill>
              </a:rPr>
              <a:t>Skipped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3429000"/>
            <a:ext cx="160020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63239" y="351129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0.31274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3429000"/>
            <a:ext cx="224028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09159" y="3511296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0.00178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0" y="3429000"/>
            <a:ext cx="1691639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95159" y="3511296"/>
            <a:ext cx="16459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395.88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86800" y="3429000"/>
            <a:ext cx="1417320" cy="475488"/>
          </a:xfrm>
          <a:prstGeom prst="rect">
            <a:avLst/>
          </a:prstGeom>
          <a:solidFill>
            <a:srgbClr val="162D44"/>
          </a:solidFill>
          <a:ln w="508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32520" y="3511296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10.94%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4526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971E"/>
                </a:solidFill>
              </a:rPr>
              <a:t>★  Held-Karp is fastest exact algorithm.  ★  Christofides is fastest overall — within ~11% of optimal.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Algorithm Comparison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474720" cy="43891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Branch &amp; 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F79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Optimality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739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Exact (optimal)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871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F79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599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Time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883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O(N!) worst-case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015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F79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28999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Space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027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O(N)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159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F79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434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171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Low (≤12 cities)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303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F79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Best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315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Small exact problems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051560"/>
            <a:ext cx="3474720" cy="43891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0789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Held-Karp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15727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16002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Optimality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7739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Exact (optimal)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24871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514599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Time Complexity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26883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O(2^N · N²)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34015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428999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Space Complexity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6027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O(2^N · 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43159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3434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Scalability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5171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Medium (≤20 cities)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52303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52578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Best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4315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Moderate-size exact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1051560"/>
            <a:ext cx="3474720" cy="43891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10789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Christofides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15727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16002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Optimality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7739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≤1.5× optimal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24871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2514599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Time Complexity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6883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O(N³)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34015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3428999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Space Complexity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6027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O(N²)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3159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43434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Scalability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5171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High (any size)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5230368"/>
            <a:ext cx="3474720" cy="384048"/>
          </a:xfrm>
          <a:prstGeom prst="rect">
            <a:avLst/>
          </a:prstGeom>
          <a:solidFill>
            <a:srgbClr val="162D44"/>
          </a:solidFill>
          <a:ln w="762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525780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Best For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43153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Large-scale routing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85039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86968"/>
            <a:ext cx="11640312" cy="36576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669280" cy="544068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Key Conclusions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39496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19"/>
            <a:ext cx="53949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All three algorithms successfully solve TSP on Euclidean graphs.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Branch &amp; Bound guarantees optimality but is limited to small 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Held-Karp is the best exact algorithm — exponential but tractable up to ~20 cities.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Christofides delivers near-optimal solutions almost instantaneously.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Euclidean distances satisfy the triangle inequality, making Christofides ≤1.5× optimal.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For real-world large-scale routing, Christofides is the most practical choice.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5486400" cy="5440680"/>
          </a:xfrm>
          <a:prstGeom prst="rect">
            <a:avLst/>
          </a:prstGeom>
          <a:solidFill>
            <a:srgbClr val="162D44"/>
          </a:solidFill>
          <a:ln w="1270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612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Future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554480"/>
            <a:ext cx="5212080" cy="27432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5212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Implement Genetic Algorithms and Ant Colony Optimisation for comparison.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Extend to asymmetric TSP (non-Euclidean cost matrices).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Integrate with real map APIs (Google Maps, OpenStreetMap).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Parallelise Branch &amp; Bound using multi-threading.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Build an interactive visualisation dashboard for tour animation.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6E0"/>
                </a:solidFill>
              </a:rPr>
              <a:t>▸  Apply algorithms to vehicle routing (multi-depot, time windows).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2286000"/>
            <a:ext cx="3200400" cy="3200400"/>
          </a:xfrm>
          <a:prstGeom prst="ellipse">
            <a:avLst/>
          </a:prstGeom>
          <a:solidFill>
            <a:srgbClr val="00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C9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5029200" cy="64008"/>
          </a:xfrm>
          <a:prstGeom prst="rect">
            <a:avLst/>
          </a:prstGeom>
          <a:solidFill>
            <a:srgbClr val="F7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971E"/>
                </a:solidFill>
              </a:rPr>
              <a:t>Rhea Parthiban  •  Rishi Agarwal  •  Rangappagari John Niranjan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Design and Analysis of Algorithms  |  CD343AI  |  Dept. of AIML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